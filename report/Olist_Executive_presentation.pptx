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25" d="100"/>
          <a:sy n="125" d="100"/>
        </p:scale>
        <p:origin x="-1680" y="-6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54894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headline: revenue grew 25x to R$14.4M across 96,478 orders. But 94% are one-time buyers — that tension is the whole story of this briefing.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signals: growth (green), margin compression (amber), experience risk (red). The bottom-line banner frames the whole deck — fragile growth, fixable.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Revenue 25x but AOV fell R$175 to R$160 — growth is transaction-led. The Nov 2017 Black Friday spike shows promo dependence. Action: AOV levers.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Ticking bombs = high revenue, sub-4 rating: bed_bath_table, computers, watches_gifts. Most reviews are 5-star, so these laggards stand out. Root-cause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On-time 4.29 vs late 2.27 stars. Delays are rare (0.36%) but disproportionately damaging, driving the 47% drop. Fix with SLA monitoring + recovery flows.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 dominates revenue with healthy ratings. RJ and BA are high-revenue but low-satisfaction risks needing last-mile fixes. MS/MT are happy but small — acquisition pilots.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segments. New + Lost are 94% of customers — proof of the one-time-buyer problem. Sleeping Giants are tiny but spend R$1,160 each — the highest-ROI reactivation target.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Sequence by ROI: delivery SLA first (biggest satisfaction lever), then category quality, then retention plays (win-back + Sleeping Giants), then AOV growth.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through-line: real but fragile growth. Three pillars — stabilise experience, retain customers, defend margin. Reactivating Sleeping Giants is the single highest-ROI action.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5.png"/><Relationship Id="rId4" Type="http://schemas.openxmlformats.org/officeDocument/2006/relationships/image" Target="../media/image2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5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A384"/>
          </a:solidFill>
          <a:ln/>
        </p:spPr>
      </p:sp>
      <p:pic>
        <p:nvPicPr>
          <p:cNvPr id="3" name="Image 0" descr="icons/warehou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078992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109728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kern="0" spc="300" dirty="0">
                <a:solidFill>
                  <a:srgbClr val="0FA3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DATA ANALYTICS CASE STUDY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731520" y="1783080"/>
            <a:ext cx="10607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Unlocking Growth at Olist</a:t>
            </a:r>
            <a:endParaRPr lang="en-US" sz="4600" dirty="0"/>
          </a:p>
        </p:txBody>
      </p:sp>
      <p:sp>
        <p:nvSpPr>
          <p:cNvPr id="6" name="Text 3"/>
          <p:cNvSpPr/>
          <p:nvPr/>
        </p:nvSpPr>
        <p:spPr>
          <a:xfrm>
            <a:off x="749808" y="2788920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50" i="1" dirty="0">
                <a:solidFill>
                  <a:srgbClr val="C7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growth sustainable? A diagnostic of revenue quality, category risk, delivery experience, state opportunity and customer retention.</a:t>
            </a:r>
            <a:endParaRPr lang="en-US" sz="1550" dirty="0"/>
          </a:p>
        </p:txBody>
      </p:sp>
      <p:sp>
        <p:nvSpPr>
          <p:cNvPr id="7" name="Shape 4"/>
          <p:cNvSpPr/>
          <p:nvPr/>
        </p:nvSpPr>
        <p:spPr>
          <a:xfrm>
            <a:off x="731520" y="3977640"/>
            <a:ext cx="2542032" cy="1371600"/>
          </a:xfrm>
          <a:prstGeom prst="roundRect">
            <a:avLst>
              <a:gd name="adj" fmla="val 3333"/>
            </a:avLst>
          </a:prstGeom>
          <a:solidFill>
            <a:srgbClr val="1E3552"/>
          </a:solidFill>
          <a:ln w="12700">
            <a:solidFill>
              <a:srgbClr val="32466A"/>
            </a:solidFill>
            <a:prstDash val="solid"/>
          </a:ln>
        </p:spPr>
      </p:sp>
      <p:pic>
        <p:nvPicPr>
          <p:cNvPr id="8" name="Image 1" descr="icons/mone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688" y="4178808"/>
            <a:ext cx="365760" cy="3657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68680" y="4507992"/>
            <a:ext cx="2267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R$14.4M</a:t>
            </a:r>
            <a:endParaRPr lang="en-US" sz="2800" dirty="0"/>
          </a:p>
        </p:txBody>
      </p:sp>
      <p:sp>
        <p:nvSpPr>
          <p:cNvPr id="10" name="Text 6"/>
          <p:cNvSpPr/>
          <p:nvPr/>
        </p:nvSpPr>
        <p:spPr>
          <a:xfrm>
            <a:off x="877824" y="5020056"/>
            <a:ext cx="2267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AF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ANALYSED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3529584" y="3977640"/>
            <a:ext cx="2542032" cy="1371600"/>
          </a:xfrm>
          <a:prstGeom prst="roundRect">
            <a:avLst>
              <a:gd name="adj" fmla="val 3333"/>
            </a:avLst>
          </a:prstGeom>
          <a:solidFill>
            <a:srgbClr val="1E3552"/>
          </a:solidFill>
          <a:ln w="12700">
            <a:solidFill>
              <a:srgbClr val="32466A"/>
            </a:solidFill>
            <a:prstDash val="solid"/>
          </a:ln>
        </p:spPr>
      </p:sp>
      <p:pic>
        <p:nvPicPr>
          <p:cNvPr id="12" name="Image 2" descr="icons/box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30752" y="4178808"/>
            <a:ext cx="365760" cy="36576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666744" y="4507992"/>
            <a:ext cx="2267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96,478</a:t>
            </a:r>
            <a:endParaRPr lang="en-US" sz="2800" dirty="0"/>
          </a:p>
        </p:txBody>
      </p:sp>
      <p:sp>
        <p:nvSpPr>
          <p:cNvPr id="14" name="Text 9"/>
          <p:cNvSpPr/>
          <p:nvPr/>
        </p:nvSpPr>
        <p:spPr>
          <a:xfrm>
            <a:off x="3675888" y="5020056"/>
            <a:ext cx="2267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AF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 ORDERS</a:t>
            </a:r>
            <a:endParaRPr lang="en-US" sz="1050" dirty="0"/>
          </a:p>
        </p:txBody>
      </p:sp>
      <p:sp>
        <p:nvSpPr>
          <p:cNvPr id="15" name="Shape 10"/>
          <p:cNvSpPr/>
          <p:nvPr/>
        </p:nvSpPr>
        <p:spPr>
          <a:xfrm>
            <a:off x="6327648" y="3977640"/>
            <a:ext cx="2542032" cy="1371600"/>
          </a:xfrm>
          <a:prstGeom prst="roundRect">
            <a:avLst>
              <a:gd name="adj" fmla="val 3333"/>
            </a:avLst>
          </a:prstGeom>
          <a:solidFill>
            <a:srgbClr val="1E3552"/>
          </a:solidFill>
          <a:ln w="12700">
            <a:solidFill>
              <a:srgbClr val="32466A"/>
            </a:solidFill>
            <a:prstDash val="solid"/>
          </a:ln>
        </p:spPr>
      </p:sp>
      <p:pic>
        <p:nvPicPr>
          <p:cNvPr id="16" name="Image 3" descr="icons/growth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28816" y="4178808"/>
            <a:ext cx="365760" cy="36576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464808" y="4507992"/>
            <a:ext cx="2267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25×</a:t>
            </a:r>
            <a:endParaRPr lang="en-US" sz="2800" dirty="0"/>
          </a:p>
        </p:txBody>
      </p:sp>
      <p:sp>
        <p:nvSpPr>
          <p:cNvPr id="18" name="Text 12"/>
          <p:cNvSpPr/>
          <p:nvPr/>
        </p:nvSpPr>
        <p:spPr>
          <a:xfrm>
            <a:off x="6473952" y="5020056"/>
            <a:ext cx="2267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AF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GROWTH / 13 MO</a:t>
            </a:r>
            <a:endParaRPr lang="en-US" sz="1050" dirty="0"/>
          </a:p>
        </p:txBody>
      </p:sp>
      <p:sp>
        <p:nvSpPr>
          <p:cNvPr id="19" name="Shape 13"/>
          <p:cNvSpPr/>
          <p:nvPr/>
        </p:nvSpPr>
        <p:spPr>
          <a:xfrm>
            <a:off x="9125712" y="3977640"/>
            <a:ext cx="2542032" cy="1371600"/>
          </a:xfrm>
          <a:prstGeom prst="roundRect">
            <a:avLst>
              <a:gd name="adj" fmla="val 3333"/>
            </a:avLst>
          </a:prstGeom>
          <a:solidFill>
            <a:srgbClr val="1E3552"/>
          </a:solidFill>
          <a:ln w="12700">
            <a:solidFill>
              <a:srgbClr val="32466A"/>
            </a:solidFill>
            <a:prstDash val="solid"/>
          </a:ln>
        </p:spPr>
      </p:sp>
      <p:pic>
        <p:nvPicPr>
          <p:cNvPr id="20" name="Image 4" descr="icons/user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26880" y="4178808"/>
            <a:ext cx="365760" cy="36576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9262872" y="4507992"/>
            <a:ext cx="2267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94%</a:t>
            </a:r>
            <a:endParaRPr lang="en-US" sz="2800" dirty="0"/>
          </a:p>
        </p:txBody>
      </p:sp>
      <p:sp>
        <p:nvSpPr>
          <p:cNvPr id="22" name="Text 15"/>
          <p:cNvSpPr/>
          <p:nvPr/>
        </p:nvSpPr>
        <p:spPr>
          <a:xfrm>
            <a:off x="9272016" y="5020056"/>
            <a:ext cx="2267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AF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ONE-TIME BUYERS</a:t>
            </a:r>
            <a:endParaRPr lang="en-US" sz="1050" dirty="0"/>
          </a:p>
        </p:txBody>
      </p:sp>
      <p:sp>
        <p:nvSpPr>
          <p:cNvPr id="23" name="Text 16"/>
          <p:cNvSpPr/>
          <p:nvPr/>
        </p:nvSpPr>
        <p:spPr>
          <a:xfrm>
            <a:off x="749808" y="589788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Analyst: Muhammed Raazi V  ·  June 2026</a:t>
            </a:r>
            <a:r>
              <a:rPr lang="en-US" sz="1250" dirty="0">
                <a:solidFill>
                  <a:srgbClr val="AF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9 CSV files  ·  Sept 2016 – Aug 2018  ·  All figures in BRL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20624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0FA3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 — KEY SIGNALS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927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425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Explosive growth on the surface — fragility underneath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755648"/>
            <a:ext cx="3456432" cy="2788920"/>
          </a:xfrm>
          <a:prstGeom prst="roundRect">
            <a:avLst>
              <a:gd name="adj" fmla="val 1639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blurRad="114300" dist="38100" dir="5400000" algn="bl" rotWithShape="0">
              <a:srgbClr val="14253C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32688" y="2048256"/>
            <a:ext cx="512064" cy="512064"/>
          </a:xfrm>
          <a:prstGeom prst="ellipse">
            <a:avLst/>
          </a:prstGeom>
          <a:solidFill>
            <a:srgbClr val="1E9E63"/>
          </a:solidFill>
          <a:ln/>
        </p:spPr>
      </p:sp>
      <p:pic>
        <p:nvPicPr>
          <p:cNvPr id="6" name="Image 0" descr="icons/growth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" y="2139696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91056" y="2084832"/>
            <a:ext cx="2359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9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950976" y="2715768"/>
            <a:ext cx="2907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425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Rapid revenue growth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50976" y="3172968"/>
            <a:ext cx="288950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grew 25× in 13 months to R$14.4M analysed. On the surface, a dramatic scale-up story.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389120" y="1755648"/>
            <a:ext cx="3456432" cy="2788920"/>
          </a:xfrm>
          <a:prstGeom prst="roundRect">
            <a:avLst>
              <a:gd name="adj" fmla="val 1639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blurRad="114300" dist="38100" dir="5400000" algn="bl" rotWithShape="0">
              <a:srgbClr val="14253C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81728" y="2048256"/>
            <a:ext cx="512064" cy="512064"/>
          </a:xfrm>
          <a:prstGeom prst="ellipse">
            <a:avLst/>
          </a:prstGeom>
          <a:solidFill>
            <a:srgbClr val="E0982E"/>
          </a:solidFill>
          <a:ln/>
        </p:spPr>
      </p:sp>
      <p:pic>
        <p:nvPicPr>
          <p:cNvPr id="12" name="Image 1" descr="icons/scale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3168" y="2139696"/>
            <a:ext cx="329184" cy="32918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40096" y="2084832"/>
            <a:ext cx="2359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09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4700016" y="2715768"/>
            <a:ext cx="2907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425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AOV compression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4700016" y="3172968"/>
            <a:ext cx="288950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order value slipped from R$175 to R$160. Growth is volume-driven, not margin-led.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8138160" y="1755648"/>
            <a:ext cx="3456432" cy="2788920"/>
          </a:xfrm>
          <a:prstGeom prst="roundRect">
            <a:avLst>
              <a:gd name="adj" fmla="val 1639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blurRad="114300" dist="38100" dir="5400000" algn="bl" rotWithShape="0">
              <a:srgbClr val="14253C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430768" y="2048256"/>
            <a:ext cx="512064" cy="512064"/>
          </a:xfrm>
          <a:prstGeom prst="ellipse">
            <a:avLst/>
          </a:prstGeom>
          <a:solidFill>
            <a:srgbClr val="D64C3C"/>
          </a:solidFill>
          <a:ln/>
        </p:spPr>
      </p:sp>
      <p:pic>
        <p:nvPicPr>
          <p:cNvPr id="18" name="Image 2" descr="icons/warn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22208" y="2139696"/>
            <a:ext cx="329184" cy="32918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9089136" y="2084832"/>
            <a:ext cx="2359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6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8449056" y="2715768"/>
            <a:ext cx="2907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425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experience risk</a:t>
            </a:r>
            <a:endParaRPr lang="en-US" sz="1700" dirty="0"/>
          </a:p>
        </p:txBody>
      </p:sp>
      <p:sp>
        <p:nvSpPr>
          <p:cNvPr id="21" name="Text 16"/>
          <p:cNvSpPr/>
          <p:nvPr/>
        </p:nvSpPr>
        <p:spPr>
          <a:xfrm>
            <a:off x="8449056" y="3172968"/>
            <a:ext cx="288950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47% satisfaction drop follows a late delivery, and 94% of customers buy only once.</a:t>
            </a:r>
            <a:endParaRPr lang="en-US" sz="1250" dirty="0"/>
          </a:p>
        </p:txBody>
      </p:sp>
      <p:sp>
        <p:nvSpPr>
          <p:cNvPr id="22" name="Shape 17"/>
          <p:cNvSpPr/>
          <p:nvPr/>
        </p:nvSpPr>
        <p:spPr>
          <a:xfrm>
            <a:off x="640080" y="4828032"/>
            <a:ext cx="10908792" cy="987552"/>
          </a:xfrm>
          <a:prstGeom prst="roundRect">
            <a:avLst>
              <a:gd name="adj" fmla="val 4630"/>
            </a:avLst>
          </a:prstGeom>
          <a:solidFill>
            <a:srgbClr val="14253C"/>
          </a:solidFill>
          <a:ln w="12700">
            <a:solidFill>
              <a:srgbClr val="14253C"/>
            </a:solidFill>
            <a:prstDash val="solid"/>
          </a:ln>
        </p:spPr>
      </p:sp>
      <p:pic>
        <p:nvPicPr>
          <p:cNvPr id="23" name="Image 3" descr="icons/targe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5120640"/>
            <a:ext cx="384048" cy="384048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463040" y="4937760"/>
            <a:ext cx="99212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0FA3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bottom line:  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growth is real but fragile. The job is to convert one-time volume into retained, higher-value customers by fixing delivery and category quality.</a:t>
            </a:r>
            <a:endParaRPr lang="en-US" sz="1400" dirty="0"/>
          </a:p>
        </p:txBody>
      </p:sp>
      <p:sp>
        <p:nvSpPr>
          <p:cNvPr id="25" name="Text 19"/>
          <p:cNvSpPr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Unlocking Growth at Olist  ·  Executive Briefing</a:t>
            </a:r>
            <a:endParaRPr lang="en-US" sz="1000" dirty="0"/>
          </a:p>
        </p:txBody>
      </p:sp>
      <p:sp>
        <p:nvSpPr>
          <p:cNvPr id="26" name="Text 20"/>
          <p:cNvSpPr/>
          <p:nvPr/>
        </p:nvSpPr>
        <p:spPr>
          <a:xfrm>
            <a:off x="1147572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8A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20624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0FA3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927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425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business questions we set out to answer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456432" cy="1993392"/>
          </a:xfrm>
          <a:prstGeom prst="roundRect">
            <a:avLst>
              <a:gd name="adj" fmla="val 2294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blurRad="114300" dist="38100" dir="5400000" algn="bl" rotWithShape="0">
              <a:srgbClr val="14253C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50976" y="2039112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A3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950976" y="2624328"/>
            <a:ext cx="2907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425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 growth sustainable?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950976" y="3081528"/>
            <a:ext cx="28895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organic demand from promotional spikes such as Black Friday.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70832" y="1783080"/>
            <a:ext cx="3456432" cy="1993392"/>
          </a:xfrm>
          <a:prstGeom prst="roundRect">
            <a:avLst>
              <a:gd name="adj" fmla="val 2294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blurRad="114300" dist="38100" dir="5400000" algn="bl" rotWithShape="0">
              <a:srgbClr val="14253C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681728" y="2039112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A3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681728" y="2624328"/>
            <a:ext cx="2907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425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categories hide risk?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4681728" y="3081528"/>
            <a:ext cx="28895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high-revenue categories with low satisfaction — the “ticking bombs.”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101584" y="1783080"/>
            <a:ext cx="3456432" cy="1993392"/>
          </a:xfrm>
          <a:prstGeom prst="roundRect">
            <a:avLst>
              <a:gd name="adj" fmla="val 2294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blurRad="114300" dist="38100" dir="5400000" algn="bl" rotWithShape="0">
              <a:srgbClr val="14253C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412480" y="2039112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A3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8412480" y="2624328"/>
            <a:ext cx="2907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425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Does delivery drive satisfaction?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8412480" y="3081528"/>
            <a:ext cx="28895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Quantify the rating impact of on-time versus late delivery.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2505456" y="4069080"/>
            <a:ext cx="3456432" cy="1993392"/>
          </a:xfrm>
          <a:prstGeom prst="roundRect">
            <a:avLst>
              <a:gd name="adj" fmla="val 2294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blurRad="114300" dist="38100" dir="5400000" algn="bl" rotWithShape="0">
              <a:srgbClr val="14253C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816352" y="4325112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A3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2816352" y="4910328"/>
            <a:ext cx="2907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425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to invest by state?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2816352" y="5367528"/>
            <a:ext cx="28895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revenue, satisfaction and opportunity at the state level.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236208" y="4069080"/>
            <a:ext cx="3456432" cy="1993392"/>
          </a:xfrm>
          <a:prstGeom prst="roundRect">
            <a:avLst>
              <a:gd name="adj" fmla="val 2294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blurRad="114300" dist="38100" dir="5400000" algn="bl" rotWithShape="0">
              <a:srgbClr val="14253C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547104" y="4325112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A3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6547104" y="4910328"/>
            <a:ext cx="2907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425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are our customers?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6547104" y="5367528"/>
            <a:ext cx="28895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RFM + KMeans segmentation to target retention and reactivation.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Unlocking Growth at Olist  ·  Executive Briefing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147572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8A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20624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0FA3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METHOD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927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425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Reproducible analysis across nine source files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810512"/>
            <a:ext cx="2542032" cy="1170432"/>
          </a:xfrm>
          <a:prstGeom prst="roundRect">
            <a:avLst>
              <a:gd name="adj" fmla="val 3906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blurRad="114300" dist="38100" dir="5400000" algn="bl" rotWithShape="0">
              <a:srgbClr val="14253C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41248" y="1993392"/>
            <a:ext cx="21762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425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96,478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850392" y="2560320"/>
            <a:ext cx="2176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 orders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438144" y="1810512"/>
            <a:ext cx="2542032" cy="1170432"/>
          </a:xfrm>
          <a:prstGeom prst="roundRect">
            <a:avLst>
              <a:gd name="adj" fmla="val 3906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blurRad="114300" dist="38100" dir="5400000" algn="bl" rotWithShape="0">
              <a:srgbClr val="14253C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639312" y="1993392"/>
            <a:ext cx="21762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425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3648456" y="2560320"/>
            <a:ext cx="2176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source files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40080" y="3136392"/>
            <a:ext cx="2542032" cy="1170432"/>
          </a:xfrm>
          <a:prstGeom prst="roundRect">
            <a:avLst>
              <a:gd name="adj" fmla="val 3906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blurRad="114300" dist="38100" dir="5400000" algn="bl" rotWithShape="0">
              <a:srgbClr val="14253C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41248" y="3319272"/>
            <a:ext cx="21762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425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R$14.4M</a:t>
            </a:r>
            <a:endParaRPr lang="en-US" sz="2500" dirty="0"/>
          </a:p>
        </p:txBody>
      </p:sp>
      <p:sp>
        <p:nvSpPr>
          <p:cNvPr id="12" name="Text 10"/>
          <p:cNvSpPr/>
          <p:nvPr/>
        </p:nvSpPr>
        <p:spPr>
          <a:xfrm>
            <a:off x="850392" y="3886200"/>
            <a:ext cx="2176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analysed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438144" y="3136392"/>
            <a:ext cx="2542032" cy="1170432"/>
          </a:xfrm>
          <a:prstGeom prst="roundRect">
            <a:avLst>
              <a:gd name="adj" fmla="val 3906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blurRad="114300" dist="38100" dir="5400000" algn="bl" rotWithShape="0">
              <a:srgbClr val="14253C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39312" y="3319272"/>
            <a:ext cx="21762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425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 mo</a:t>
            </a:r>
            <a:endParaRPr lang="en-US" sz="2500" dirty="0"/>
          </a:p>
        </p:txBody>
      </p:sp>
      <p:sp>
        <p:nvSpPr>
          <p:cNvPr id="15" name="Text 13"/>
          <p:cNvSpPr/>
          <p:nvPr/>
        </p:nvSpPr>
        <p:spPr>
          <a:xfrm>
            <a:off x="3648456" y="3886200"/>
            <a:ext cx="2176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 2016 – Aug 2018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199632" y="1810512"/>
            <a:ext cx="5349240" cy="2496312"/>
          </a:xfrm>
          <a:prstGeom prst="roundRect">
            <a:avLst>
              <a:gd name="adj" fmla="val 1832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blurRad="114300" dist="38100" dir="5400000" algn="bl" rotWithShape="0">
              <a:srgbClr val="14253C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73952" y="199339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25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Workflow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473952" y="2542032"/>
            <a:ext cx="566928" cy="566928"/>
          </a:xfrm>
          <a:prstGeom prst="ellipse">
            <a:avLst/>
          </a:prstGeom>
          <a:solidFill>
            <a:srgbClr val="0FA384"/>
          </a:solidFill>
          <a:ln/>
        </p:spPr>
      </p:sp>
      <p:sp>
        <p:nvSpPr>
          <p:cNvPr id="19" name="Text 17"/>
          <p:cNvSpPr/>
          <p:nvPr/>
        </p:nvSpPr>
        <p:spPr>
          <a:xfrm>
            <a:off x="6473952" y="254203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309360" y="3163824"/>
            <a:ext cx="8961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077456" y="2825496"/>
            <a:ext cx="365760" cy="0"/>
          </a:xfrm>
          <a:prstGeom prst="line">
            <a:avLst/>
          </a:prstGeom>
          <a:noFill/>
          <a:ln w="19050">
            <a:solidFill>
              <a:srgbClr val="8A94A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461504" y="2542032"/>
            <a:ext cx="566928" cy="566928"/>
          </a:xfrm>
          <a:prstGeom prst="ellipse">
            <a:avLst/>
          </a:prstGeom>
          <a:solidFill>
            <a:srgbClr val="1E3552"/>
          </a:solidFill>
          <a:ln/>
        </p:spPr>
      </p:sp>
      <p:sp>
        <p:nvSpPr>
          <p:cNvPr id="23" name="Text 21"/>
          <p:cNvSpPr/>
          <p:nvPr/>
        </p:nvSpPr>
        <p:spPr>
          <a:xfrm>
            <a:off x="7461504" y="254203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7296912" y="3163824"/>
            <a:ext cx="8961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065008" y="2825496"/>
            <a:ext cx="365760" cy="0"/>
          </a:xfrm>
          <a:prstGeom prst="line">
            <a:avLst/>
          </a:prstGeom>
          <a:noFill/>
          <a:ln w="19050">
            <a:solidFill>
              <a:srgbClr val="8A94A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449056" y="2542032"/>
            <a:ext cx="566928" cy="566928"/>
          </a:xfrm>
          <a:prstGeom prst="ellipse">
            <a:avLst/>
          </a:prstGeom>
          <a:solidFill>
            <a:srgbClr val="0FA384"/>
          </a:solidFill>
          <a:ln/>
        </p:spPr>
      </p:sp>
      <p:sp>
        <p:nvSpPr>
          <p:cNvPr id="27" name="Text 25"/>
          <p:cNvSpPr/>
          <p:nvPr/>
        </p:nvSpPr>
        <p:spPr>
          <a:xfrm>
            <a:off x="8449056" y="254203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8284464" y="3163824"/>
            <a:ext cx="8961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9052560" y="2825496"/>
            <a:ext cx="365760" cy="0"/>
          </a:xfrm>
          <a:prstGeom prst="line">
            <a:avLst/>
          </a:prstGeom>
          <a:noFill/>
          <a:ln w="19050">
            <a:solidFill>
              <a:srgbClr val="8A94A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436608" y="2542032"/>
            <a:ext cx="566928" cy="566928"/>
          </a:xfrm>
          <a:prstGeom prst="ellipse">
            <a:avLst/>
          </a:prstGeom>
          <a:solidFill>
            <a:srgbClr val="1E3552"/>
          </a:solidFill>
          <a:ln/>
        </p:spPr>
      </p:sp>
      <p:sp>
        <p:nvSpPr>
          <p:cNvPr id="31" name="Text 29"/>
          <p:cNvSpPr/>
          <p:nvPr/>
        </p:nvSpPr>
        <p:spPr>
          <a:xfrm>
            <a:off x="9436608" y="254203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9272016" y="3163824"/>
            <a:ext cx="8961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10040112" y="2825496"/>
            <a:ext cx="365760" cy="0"/>
          </a:xfrm>
          <a:prstGeom prst="line">
            <a:avLst/>
          </a:prstGeom>
          <a:noFill/>
          <a:ln w="19050">
            <a:solidFill>
              <a:srgbClr val="8A94A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0424160" y="2542032"/>
            <a:ext cx="566928" cy="566928"/>
          </a:xfrm>
          <a:prstGeom prst="ellipse">
            <a:avLst/>
          </a:prstGeom>
          <a:solidFill>
            <a:srgbClr val="0FA384"/>
          </a:solidFill>
          <a:ln/>
        </p:spPr>
      </p:sp>
      <p:sp>
        <p:nvSpPr>
          <p:cNvPr id="35" name="Text 33"/>
          <p:cNvSpPr/>
          <p:nvPr/>
        </p:nvSpPr>
        <p:spPr>
          <a:xfrm>
            <a:off x="10424160" y="254203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10259568" y="3163824"/>
            <a:ext cx="8961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473952" y="376732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Emphasis on reproducible scripts and validation checks at every stage.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40080" y="4526280"/>
            <a:ext cx="10908792" cy="1234440"/>
          </a:xfrm>
          <a:prstGeom prst="roundRect">
            <a:avLst>
              <a:gd name="adj" fmla="val 3704"/>
            </a:avLst>
          </a:prstGeom>
          <a:solidFill>
            <a:srgbClr val="14253C"/>
          </a:solidFill>
          <a:ln w="12700">
            <a:solidFill>
              <a:srgbClr val="14253C"/>
            </a:solidFill>
            <a:prstDash val="solid"/>
          </a:ln>
        </p:spPr>
      </p:sp>
      <p:pic>
        <p:nvPicPr>
          <p:cNvPr id="39" name="Image 0" descr="icons/shie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4882896"/>
            <a:ext cx="384048" cy="384048"/>
          </a:xfrm>
          <a:prstGeom prst="rect">
            <a:avLst/>
          </a:prstGeom>
        </p:spPr>
      </p:pic>
      <p:sp>
        <p:nvSpPr>
          <p:cNvPr id="40" name="Text 37"/>
          <p:cNvSpPr/>
          <p:nvPr/>
        </p:nvSpPr>
        <p:spPr>
          <a:xfrm>
            <a:off x="1463040" y="4663440"/>
            <a:ext cx="9921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0FA3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note:  </a:t>
            </a: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figures in Brazilian Real (BRL). Visuals use aggregated monthly and categorical views; customer segmentation via RFM and KMeans (K = 4).</a:t>
            </a:r>
            <a:endParaRPr lang="en-US" sz="1350" dirty="0"/>
          </a:p>
        </p:txBody>
      </p:sp>
      <p:sp>
        <p:nvSpPr>
          <p:cNvPr id="41" name="Text 38"/>
          <p:cNvSpPr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Unlocking Growth at Olist  ·  Executive Briefing</a:t>
            </a:r>
            <a:endParaRPr lang="en-US" sz="1000" dirty="0"/>
          </a:p>
        </p:txBody>
      </p:sp>
      <p:sp>
        <p:nvSpPr>
          <p:cNvPr id="42" name="Text 39"/>
          <p:cNvSpPr/>
          <p:nvPr/>
        </p:nvSpPr>
        <p:spPr>
          <a:xfrm>
            <a:off x="1147572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8A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20624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0FA3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1 · REVENUE GROWTH QUALITY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927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425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Growth is real — but driven by volume, not basket value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627632"/>
            <a:ext cx="3566160" cy="187452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blurRad="114300" dist="38100" dir="5400000" algn="bl" rotWithShape="0">
              <a:srgbClr val="14253C">
                <a:alpha val="12000"/>
              </a:srgbClr>
            </a:outerShdw>
          </a:effectLst>
        </p:spPr>
      </p:sp>
      <p:pic>
        <p:nvPicPr>
          <p:cNvPr id="5" name="Image 0" descr="charts/chart1_monthly_reven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" y="1863417"/>
            <a:ext cx="3273552" cy="1402951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389120" y="1627632"/>
            <a:ext cx="3566160" cy="187452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blurRad="114300" dist="38100" dir="5400000" algn="bl" rotWithShape="0">
              <a:srgbClr val="14253C">
                <a:alpha val="12000"/>
              </a:srgbClr>
            </a:outerShdw>
          </a:effectLst>
        </p:spPr>
      </p:sp>
      <p:pic>
        <p:nvPicPr>
          <p:cNvPr id="7" name="Image 1" descr="charts/chart2_order_volum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35424" y="1863417"/>
            <a:ext cx="3273552" cy="1402951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8138160" y="1627632"/>
            <a:ext cx="3410712" cy="187452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blurRad="114300" dist="38100" dir="5400000" algn="bl" rotWithShape="0">
              <a:srgbClr val="14253C">
                <a:alpha val="12000"/>
              </a:srgbClr>
            </a:outerShdw>
          </a:effectLst>
        </p:spPr>
      </p:sp>
      <p:pic>
        <p:nvPicPr>
          <p:cNvPr id="9" name="Image 2" descr="charts/chart3_aov_tren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84464" y="1896727"/>
            <a:ext cx="3118104" cy="133633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40080" y="3502152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revenue</a:t>
            </a:r>
            <a:endParaRPr lang="en-US" sz="1050" dirty="0"/>
          </a:p>
        </p:txBody>
      </p:sp>
      <p:sp>
        <p:nvSpPr>
          <p:cNvPr id="11" name="Text 6"/>
          <p:cNvSpPr/>
          <p:nvPr/>
        </p:nvSpPr>
        <p:spPr>
          <a:xfrm>
            <a:off x="4389120" y="3502152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volume</a:t>
            </a:r>
            <a:endParaRPr lang="en-US" sz="1050" dirty="0"/>
          </a:p>
        </p:txBody>
      </p:sp>
      <p:sp>
        <p:nvSpPr>
          <p:cNvPr id="12" name="Text 7"/>
          <p:cNvSpPr/>
          <p:nvPr/>
        </p:nvSpPr>
        <p:spPr>
          <a:xfrm>
            <a:off x="8138160" y="3502152"/>
            <a:ext cx="34107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order value</a:t>
            </a:r>
            <a:endParaRPr lang="en-US" sz="1050" dirty="0"/>
          </a:p>
        </p:txBody>
      </p:sp>
      <p:sp>
        <p:nvSpPr>
          <p:cNvPr id="13" name="Shape 8"/>
          <p:cNvSpPr/>
          <p:nvPr/>
        </p:nvSpPr>
        <p:spPr>
          <a:xfrm>
            <a:off x="640080" y="3913632"/>
            <a:ext cx="3502152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blurRad="114300" dist="38100" dir="5400000" algn="bl" rotWithShape="0">
              <a:srgbClr val="14253C">
                <a:alpha val="12000"/>
              </a:srgbClr>
            </a:outerShdw>
          </a:effectLst>
        </p:spPr>
      </p:sp>
      <p:sp>
        <p:nvSpPr>
          <p:cNvPr id="14" name="Text 9"/>
          <p:cNvSpPr/>
          <p:nvPr/>
        </p:nvSpPr>
        <p:spPr>
          <a:xfrm>
            <a:off x="841248" y="4005072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E9E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25×</a:t>
            </a:r>
            <a:endParaRPr lang="en-US" sz="1900" dirty="0"/>
          </a:p>
        </p:txBody>
      </p:sp>
      <p:sp>
        <p:nvSpPr>
          <p:cNvPr id="15" name="Text 10"/>
          <p:cNvSpPr/>
          <p:nvPr/>
        </p:nvSpPr>
        <p:spPr>
          <a:xfrm>
            <a:off x="850392" y="4416552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growth in 13 months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4343400" y="3913632"/>
            <a:ext cx="3502152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blurRad="114300" dist="38100" dir="5400000" algn="bl" rotWithShape="0">
              <a:srgbClr val="14253C">
                <a:alpha val="12000"/>
              </a:srgbClr>
            </a:outerShdw>
          </a:effectLst>
        </p:spPr>
      </p:sp>
      <p:sp>
        <p:nvSpPr>
          <p:cNvPr id="17" name="Text 12"/>
          <p:cNvSpPr/>
          <p:nvPr/>
        </p:nvSpPr>
        <p:spPr>
          <a:xfrm>
            <a:off x="4544568" y="4005072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E09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R$175 → R$160</a:t>
            </a:r>
            <a:endParaRPr lang="en-US" sz="1900" dirty="0"/>
          </a:p>
        </p:txBody>
      </p:sp>
      <p:sp>
        <p:nvSpPr>
          <p:cNvPr id="18" name="Text 13"/>
          <p:cNvSpPr/>
          <p:nvPr/>
        </p:nvSpPr>
        <p:spPr>
          <a:xfrm>
            <a:off x="4553712" y="4416552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AOV declined as volume surged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8046720" y="3913632"/>
            <a:ext cx="3502152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blurRad="114300" dist="38100" dir="5400000" algn="bl" rotWithShape="0">
              <a:srgbClr val="14253C">
                <a:alpha val="12000"/>
              </a:srgbClr>
            </a:outerShdw>
          </a:effectLst>
        </p:spPr>
      </p:sp>
      <p:sp>
        <p:nvSpPr>
          <p:cNvPr id="20" name="Text 15"/>
          <p:cNvSpPr/>
          <p:nvPr/>
        </p:nvSpPr>
        <p:spPr>
          <a:xfrm>
            <a:off x="8247888" y="4005072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D64C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Nov 2017</a:t>
            </a:r>
            <a:endParaRPr lang="en-US" sz="1900" dirty="0"/>
          </a:p>
        </p:txBody>
      </p:sp>
      <p:sp>
        <p:nvSpPr>
          <p:cNvPr id="21" name="Text 16"/>
          <p:cNvSpPr/>
          <p:nvPr/>
        </p:nvSpPr>
        <p:spPr>
          <a:xfrm>
            <a:off x="8257032" y="4416552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 spike aligned to Black Friday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640080" y="4956048"/>
            <a:ext cx="5349240" cy="914400"/>
          </a:xfrm>
          <a:prstGeom prst="roundRect">
            <a:avLst>
              <a:gd name="adj" fmla="val 5000"/>
            </a:avLst>
          </a:prstGeom>
          <a:solidFill>
            <a:srgbClr val="1E3552"/>
          </a:solidFill>
          <a:ln w="12700">
            <a:solidFill>
              <a:srgbClr val="1E3552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841248" y="5029200"/>
            <a:ext cx="49834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0FA3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means  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dependence on promotional events creates revenue volatility and margin pressure.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6199632" y="4956048"/>
            <a:ext cx="5349240" cy="914400"/>
          </a:xfrm>
          <a:prstGeom prst="roundRect">
            <a:avLst>
              <a:gd name="adj" fmla="val 5000"/>
            </a:avLst>
          </a:prstGeom>
          <a:solidFill>
            <a:srgbClr val="14253C"/>
          </a:solidFill>
          <a:ln w="12700">
            <a:solidFill>
              <a:srgbClr val="14253C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6400800" y="5029200"/>
            <a:ext cx="49834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0FA3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action  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to AOV levers — bundling, cross-sell, free-ship thresholds, targeted high-margin promos.</a:t>
            </a:r>
            <a:endParaRPr lang="en-US" sz="1200" dirty="0"/>
          </a:p>
        </p:txBody>
      </p:sp>
      <p:sp>
        <p:nvSpPr>
          <p:cNvPr id="26" name="Text 21"/>
          <p:cNvSpPr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Unlocking Growth at Olist  ·  Executive Briefing</a:t>
            </a:r>
            <a:endParaRPr lang="en-US" sz="1000" dirty="0"/>
          </a:p>
        </p:txBody>
      </p:sp>
      <p:sp>
        <p:nvSpPr>
          <p:cNvPr id="27" name="Text 22"/>
          <p:cNvSpPr/>
          <p:nvPr/>
        </p:nvSpPr>
        <p:spPr>
          <a:xfrm>
            <a:off x="1147572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8A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20624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D6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2 · CATEGORY RISK MATRIX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927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425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High-revenue “ticking bombs” are dragging satisfaction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5074920" cy="3246120"/>
          </a:xfrm>
          <a:prstGeom prst="roundRect">
            <a:avLst>
              <a:gd name="adj" fmla="val 1408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blurRad="114300" dist="38100" dir="5400000" algn="bl" rotWithShape="0">
              <a:srgbClr val="14253C">
                <a:alpha val="12000"/>
              </a:srgbClr>
            </a:outerShdw>
          </a:effectLst>
        </p:spPr>
      </p:sp>
      <p:pic>
        <p:nvPicPr>
          <p:cNvPr id="5" name="Image 0" descr="charts/chart5_category_matri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0364" y="1792224"/>
            <a:ext cx="4594352" cy="295351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897880" y="1645920"/>
            <a:ext cx="5650992" cy="1572768"/>
          </a:xfrm>
          <a:prstGeom prst="roundRect">
            <a:avLst>
              <a:gd name="adj" fmla="val 2907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blurRad="114300" dist="38100" dir="5400000" algn="bl" rotWithShape="0">
              <a:srgbClr val="14253C">
                <a:alpha val="12000"/>
              </a:srgbClr>
            </a:outerShdw>
          </a:effectLst>
        </p:spPr>
      </p:sp>
      <p:pic>
        <p:nvPicPr>
          <p:cNvPr id="7" name="Image 1" descr="charts/chart4_top10_categori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6096" y="1792224"/>
            <a:ext cx="2194560" cy="128016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897880" y="3319272"/>
            <a:ext cx="5650992" cy="1572768"/>
          </a:xfrm>
          <a:prstGeom prst="roundRect">
            <a:avLst>
              <a:gd name="adj" fmla="val 2907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blurRad="114300" dist="38100" dir="5400000" algn="bl" rotWithShape="0">
              <a:srgbClr val="14253C">
                <a:alpha val="12000"/>
              </a:srgbClr>
            </a:outerShdw>
          </a:effectLst>
        </p:spPr>
      </p:sp>
      <p:pic>
        <p:nvPicPr>
          <p:cNvPr id="9" name="Image 2" descr="charts/chart6_review_distributi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56576" y="3465576"/>
            <a:ext cx="2133600" cy="1280160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640080" y="5010912"/>
            <a:ext cx="2240280" cy="868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blurRad="114300" dist="38100" dir="5400000" algn="bl" rotWithShape="0">
              <a:srgbClr val="14253C">
                <a:alpha val="12000"/>
              </a:srgbClr>
            </a:outerShdw>
          </a:effectLst>
        </p:spPr>
      </p:sp>
      <p:sp>
        <p:nvSpPr>
          <p:cNvPr id="11" name="Shape 6"/>
          <p:cNvSpPr/>
          <p:nvPr/>
        </p:nvSpPr>
        <p:spPr>
          <a:xfrm>
            <a:off x="804672" y="5138928"/>
            <a:ext cx="146304" cy="146304"/>
          </a:xfrm>
          <a:prstGeom prst="ellipse">
            <a:avLst/>
          </a:prstGeom>
          <a:solidFill>
            <a:srgbClr val="D64C3C"/>
          </a:solidFill>
          <a:ln/>
        </p:spPr>
      </p:sp>
      <p:sp>
        <p:nvSpPr>
          <p:cNvPr id="12" name="Text 7"/>
          <p:cNvSpPr/>
          <p:nvPr/>
        </p:nvSpPr>
        <p:spPr>
          <a:xfrm>
            <a:off x="1024128" y="5074920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425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bed_bath_table</a:t>
            </a:r>
            <a:endParaRPr lang="en-US" sz="1150" dirty="0"/>
          </a:p>
        </p:txBody>
      </p:sp>
      <p:sp>
        <p:nvSpPr>
          <p:cNvPr id="13" name="Text 8"/>
          <p:cNvSpPr/>
          <p:nvPr/>
        </p:nvSpPr>
        <p:spPr>
          <a:xfrm>
            <a:off x="1024128" y="5358384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R$1M+ · rating 3.92</a:t>
            </a:r>
            <a:endParaRPr lang="en-US" sz="1050" dirty="0"/>
          </a:p>
        </p:txBody>
      </p:sp>
      <p:sp>
        <p:nvSpPr>
          <p:cNvPr id="14" name="Shape 9"/>
          <p:cNvSpPr/>
          <p:nvPr/>
        </p:nvSpPr>
        <p:spPr>
          <a:xfrm>
            <a:off x="3035808" y="5010912"/>
            <a:ext cx="2240280" cy="868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blurRad="114300" dist="38100" dir="5400000" algn="bl" rotWithShape="0">
              <a:srgbClr val="14253C">
                <a:alpha val="12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200400" y="5138928"/>
            <a:ext cx="146304" cy="146304"/>
          </a:xfrm>
          <a:prstGeom prst="ellipse">
            <a:avLst/>
          </a:prstGeom>
          <a:solidFill>
            <a:srgbClr val="D64C3C"/>
          </a:solidFill>
          <a:ln/>
        </p:spPr>
      </p:sp>
      <p:sp>
        <p:nvSpPr>
          <p:cNvPr id="16" name="Text 11"/>
          <p:cNvSpPr/>
          <p:nvPr/>
        </p:nvSpPr>
        <p:spPr>
          <a:xfrm>
            <a:off x="3419856" y="5074920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425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computers</a:t>
            </a:r>
            <a:endParaRPr lang="en-US" sz="1150" dirty="0"/>
          </a:p>
        </p:txBody>
      </p:sp>
      <p:sp>
        <p:nvSpPr>
          <p:cNvPr id="17" name="Text 12"/>
          <p:cNvSpPr/>
          <p:nvPr/>
        </p:nvSpPr>
        <p:spPr>
          <a:xfrm>
            <a:off x="3419856" y="5358384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R$888K · rating 3.99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5431536" y="5010912"/>
            <a:ext cx="2240280" cy="868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blurRad="114300" dist="38100" dir="5400000" algn="bl" rotWithShape="0">
              <a:srgbClr val="14253C">
                <a:alpha val="12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5596128" y="5138928"/>
            <a:ext cx="146304" cy="146304"/>
          </a:xfrm>
          <a:prstGeom prst="ellipse">
            <a:avLst/>
          </a:prstGeom>
          <a:solidFill>
            <a:srgbClr val="D64C3C"/>
          </a:solidFill>
          <a:ln/>
        </p:spPr>
      </p:sp>
      <p:sp>
        <p:nvSpPr>
          <p:cNvPr id="20" name="Text 15"/>
          <p:cNvSpPr/>
          <p:nvPr/>
        </p:nvSpPr>
        <p:spPr>
          <a:xfrm>
            <a:off x="5815584" y="5074920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425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watches_gifts</a:t>
            </a:r>
            <a:endParaRPr lang="en-US" sz="1150" dirty="0"/>
          </a:p>
        </p:txBody>
      </p:sp>
      <p:sp>
        <p:nvSpPr>
          <p:cNvPr id="21" name="Text 16"/>
          <p:cNvSpPr/>
          <p:nvPr/>
        </p:nvSpPr>
        <p:spPr>
          <a:xfrm>
            <a:off x="5815584" y="5358384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R$1.1M · rating 4.07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7845552" y="5010912"/>
            <a:ext cx="3703320" cy="868680"/>
          </a:xfrm>
          <a:prstGeom prst="roundRect">
            <a:avLst>
              <a:gd name="adj" fmla="val 5263"/>
            </a:avLst>
          </a:prstGeom>
          <a:solidFill>
            <a:srgbClr val="14253C"/>
          </a:solidFill>
          <a:ln w="12700">
            <a:solidFill>
              <a:srgbClr val="14253C"/>
            </a:solidFill>
            <a:prstDash val="solid"/>
          </a:ln>
        </p:spPr>
      </p:sp>
      <p:pic>
        <p:nvPicPr>
          <p:cNvPr id="23" name="Image 3" descr="icons/war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28432" y="5285232"/>
            <a:ext cx="310896" cy="310896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8449056" y="5047488"/>
            <a:ext cx="2971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0FA3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urgent quality review — product, logistics &amp; returns root-cause.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Unlocking Growth at Olist  ·  Executive Briefing</a:t>
            </a:r>
            <a:endParaRPr lang="en-US" sz="1000" dirty="0"/>
          </a:p>
        </p:txBody>
      </p:sp>
      <p:sp>
        <p:nvSpPr>
          <p:cNvPr id="26" name="Text 20"/>
          <p:cNvSpPr/>
          <p:nvPr/>
        </p:nvSpPr>
        <p:spPr>
          <a:xfrm>
            <a:off x="1147572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8A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20624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0FA3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3 · DELIVERY IMPACT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927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425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Late delivery is the single biggest satisfaction killer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664208"/>
            <a:ext cx="3611880" cy="320040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blurRad="114300" dist="38100" dir="5400000" algn="bl" rotWithShape="0">
              <a:srgbClr val="14253C">
                <a:alpha val="12000"/>
              </a:srgbClr>
            </a:outerShdw>
          </a:effectLst>
        </p:spPr>
      </p:sp>
      <p:pic>
        <p:nvPicPr>
          <p:cNvPr id="5" name="Image 0" descr="charts/chart8_ontime_vs_la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" y="2019681"/>
            <a:ext cx="3319272" cy="248945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370832" y="1664208"/>
            <a:ext cx="4526280" cy="320040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blurRad="114300" dist="38100" dir="5400000" algn="bl" rotWithShape="0">
              <a:srgbClr val="14253C">
                <a:alpha val="12000"/>
              </a:srgbClr>
            </a:outerShdw>
          </a:effectLst>
        </p:spPr>
      </p:sp>
      <p:pic>
        <p:nvPicPr>
          <p:cNvPr id="7" name="Image 1" descr="charts/chart7_delivery_vs_revie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17136" y="2205990"/>
            <a:ext cx="4233672" cy="2116836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9052560" y="1664208"/>
            <a:ext cx="2496312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blurRad="114300" dist="38100" dir="5400000" algn="bl" rotWithShape="0">
              <a:srgbClr val="14253C">
                <a:alpha val="12000"/>
              </a:srgbClr>
            </a:outerShdw>
          </a:effectLst>
        </p:spPr>
      </p:sp>
      <p:sp>
        <p:nvSpPr>
          <p:cNvPr id="9" name="Text 5"/>
          <p:cNvSpPr/>
          <p:nvPr/>
        </p:nvSpPr>
        <p:spPr>
          <a:xfrm>
            <a:off x="9198864" y="1719072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9E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4.29★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9208008" y="208483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rating, on-time orders</a:t>
            </a:r>
            <a:endParaRPr lang="en-US" sz="950" dirty="0"/>
          </a:p>
        </p:txBody>
      </p:sp>
      <p:sp>
        <p:nvSpPr>
          <p:cNvPr id="11" name="Shape 7"/>
          <p:cNvSpPr/>
          <p:nvPr/>
        </p:nvSpPr>
        <p:spPr>
          <a:xfrm>
            <a:off x="9052560" y="2487168"/>
            <a:ext cx="2496312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blurRad="114300" dist="38100" dir="5400000" algn="bl" rotWithShape="0">
              <a:srgbClr val="14253C">
                <a:alpha val="12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9198864" y="2542032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64C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2.27★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9208008" y="290779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rating, late orders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9052560" y="3310128"/>
            <a:ext cx="2496312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blurRad="114300" dist="38100" dir="5400000" algn="bl" rotWithShape="0">
              <a:srgbClr val="14253C">
                <a:alpha val="12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9198864" y="3364992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64C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−47%</a:t>
            </a:r>
            <a:endParaRPr lang="en-US" sz="1800" dirty="0"/>
          </a:p>
        </p:txBody>
      </p:sp>
      <p:sp>
        <p:nvSpPr>
          <p:cNvPr id="16" name="Text 12"/>
          <p:cNvSpPr/>
          <p:nvPr/>
        </p:nvSpPr>
        <p:spPr>
          <a:xfrm>
            <a:off x="9208008" y="37307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satisfaction drop after a late order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9052560" y="4133088"/>
            <a:ext cx="2496312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blurRad="114300" dist="38100" dir="5400000" algn="bl" rotWithShape="0">
              <a:srgbClr val="14253C">
                <a:alpha val="12000"/>
              </a:srgbClr>
            </a:outerShdw>
          </a:effectLst>
        </p:spPr>
      </p:sp>
      <p:sp>
        <p:nvSpPr>
          <p:cNvPr id="18" name="Text 14"/>
          <p:cNvSpPr/>
          <p:nvPr/>
        </p:nvSpPr>
        <p:spPr>
          <a:xfrm>
            <a:off x="9198864" y="4187952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09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0.36%</a:t>
            </a:r>
            <a:endParaRPr lang="en-US" sz="1800" dirty="0"/>
          </a:p>
        </p:txBody>
      </p:sp>
      <p:sp>
        <p:nvSpPr>
          <p:cNvPr id="19" name="Text 15"/>
          <p:cNvSpPr/>
          <p:nvPr/>
        </p:nvSpPr>
        <p:spPr>
          <a:xfrm>
            <a:off x="9208008" y="455371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catastrophic delays — outsized harm</a:t>
            </a:r>
            <a:endParaRPr lang="en-US" sz="950" dirty="0"/>
          </a:p>
        </p:txBody>
      </p:sp>
      <p:sp>
        <p:nvSpPr>
          <p:cNvPr id="20" name="Shape 16"/>
          <p:cNvSpPr/>
          <p:nvPr/>
        </p:nvSpPr>
        <p:spPr>
          <a:xfrm>
            <a:off x="640080" y="5074920"/>
            <a:ext cx="10908792" cy="804672"/>
          </a:xfrm>
          <a:prstGeom prst="roundRect">
            <a:avLst>
              <a:gd name="adj" fmla="val 5682"/>
            </a:avLst>
          </a:prstGeom>
          <a:solidFill>
            <a:srgbClr val="14253C"/>
          </a:solidFill>
          <a:ln w="12700">
            <a:solidFill>
              <a:srgbClr val="14253C"/>
            </a:solidFill>
            <a:prstDash val="solid"/>
          </a:ln>
        </p:spPr>
      </p:sp>
      <p:pic>
        <p:nvPicPr>
          <p:cNvPr id="21" name="Image 2" descr="icons/tru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5321808"/>
            <a:ext cx="365760" cy="310896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417320" y="5120640"/>
            <a:ext cx="9966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300" b="1" dirty="0">
                <a:solidFill>
                  <a:srgbClr val="0FA3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action: 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SLA monitoring, exception alerts and prioritised recovery flows for delayed orders — the highest-ROI satisfaction lever.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Unlocking Growth at Olist  ·  Executive Briefing</a:t>
            </a:r>
            <a:endParaRPr lang="en-US" sz="1000" dirty="0"/>
          </a:p>
        </p:txBody>
      </p:sp>
      <p:sp>
        <p:nvSpPr>
          <p:cNvPr id="24" name="Text 19"/>
          <p:cNvSpPr/>
          <p:nvPr/>
        </p:nvSpPr>
        <p:spPr>
          <a:xfrm>
            <a:off x="1147572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8A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20624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0FA3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4 · STATE OPPORTUNITY &amp; RISK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927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425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Concentrated in São Paulo; risk and upside elsewhere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5486400" cy="3246120"/>
          </a:xfrm>
          <a:prstGeom prst="roundRect">
            <a:avLst>
              <a:gd name="adj" fmla="val 1408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blurRad="114300" dist="38100" dir="5400000" algn="bl" rotWithShape="0">
              <a:srgbClr val="14253C">
                <a:alpha val="12000"/>
              </a:srgbClr>
            </a:outerShdw>
          </a:effectLst>
        </p:spPr>
      </p:sp>
      <p:pic>
        <p:nvPicPr>
          <p:cNvPr id="5" name="Image 0" descr="charts/chart10_state_matri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6104" y="1792224"/>
            <a:ext cx="4594352" cy="295351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291072" y="1645920"/>
            <a:ext cx="5257800" cy="3246120"/>
          </a:xfrm>
          <a:prstGeom prst="roundRect">
            <a:avLst>
              <a:gd name="adj" fmla="val 1408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blurRad="114300" dist="38100" dir="5400000" algn="bl" rotWithShape="0">
              <a:srgbClr val="14253C">
                <a:alpha val="12000"/>
              </a:srgbClr>
            </a:outerShdw>
          </a:effectLst>
        </p:spPr>
      </p:sp>
      <p:pic>
        <p:nvPicPr>
          <p:cNvPr id="7" name="Image 1" descr="charts/chart9_top10_stat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7376" y="1820799"/>
            <a:ext cx="4965192" cy="2896362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640080" y="5029200"/>
            <a:ext cx="2697480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blurRad="114300" dist="38100" dir="5400000" algn="bl" rotWithShape="0">
              <a:srgbClr val="14253C">
                <a:alpha val="12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786384" y="5157216"/>
            <a:ext cx="137160" cy="137160"/>
          </a:xfrm>
          <a:prstGeom prst="ellipse">
            <a:avLst/>
          </a:prstGeom>
          <a:solidFill>
            <a:srgbClr val="1E9E63"/>
          </a:solidFill>
          <a:ln/>
        </p:spPr>
      </p:sp>
      <p:sp>
        <p:nvSpPr>
          <p:cNvPr id="10" name="Text 6"/>
          <p:cNvSpPr/>
          <p:nvPr/>
        </p:nvSpPr>
        <p:spPr>
          <a:xfrm>
            <a:off x="987552" y="5093208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25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 — R$5.77M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987552" y="5358384"/>
            <a:ext cx="2240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 4.25 · leader, invest to scale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3374136" y="5029200"/>
            <a:ext cx="2697480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blurRad="114300" dist="38100" dir="5400000" algn="bl" rotWithShape="0">
              <a:srgbClr val="14253C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3520440" y="5157216"/>
            <a:ext cx="137160" cy="137160"/>
          </a:xfrm>
          <a:prstGeom prst="ellipse">
            <a:avLst/>
          </a:prstGeom>
          <a:solidFill>
            <a:srgbClr val="D64C3C"/>
          </a:solidFill>
          <a:ln/>
        </p:spPr>
      </p:sp>
      <p:sp>
        <p:nvSpPr>
          <p:cNvPr id="14" name="Text 10"/>
          <p:cNvSpPr/>
          <p:nvPr/>
        </p:nvSpPr>
        <p:spPr>
          <a:xfrm>
            <a:off x="3721608" y="5093208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25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RJ — R$2.05M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3721608" y="5358384"/>
            <a:ext cx="2240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 3.96 · risk, urgent fix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6108192" y="5029200"/>
            <a:ext cx="2697480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blurRad="114300" dist="38100" dir="5400000" algn="bl" rotWithShape="0">
              <a:srgbClr val="14253C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254496" y="5157216"/>
            <a:ext cx="137160" cy="137160"/>
          </a:xfrm>
          <a:prstGeom prst="ellipse">
            <a:avLst/>
          </a:prstGeom>
          <a:solidFill>
            <a:srgbClr val="D64C3C"/>
          </a:solidFill>
          <a:ln/>
        </p:spPr>
      </p:sp>
      <p:sp>
        <p:nvSpPr>
          <p:cNvPr id="18" name="Text 14"/>
          <p:cNvSpPr/>
          <p:nvPr/>
        </p:nvSpPr>
        <p:spPr>
          <a:xfrm>
            <a:off x="6455664" y="5093208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25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 — R$591K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6455664" y="5358384"/>
            <a:ext cx="2240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 3.93 · risk</a:t>
            </a:r>
            <a:endParaRPr lang="en-US" sz="950" dirty="0"/>
          </a:p>
        </p:txBody>
      </p:sp>
      <p:sp>
        <p:nvSpPr>
          <p:cNvPr id="20" name="Shape 16"/>
          <p:cNvSpPr/>
          <p:nvPr/>
        </p:nvSpPr>
        <p:spPr>
          <a:xfrm>
            <a:off x="8842248" y="5029200"/>
            <a:ext cx="2697480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blurRad="114300" dist="38100" dir="5400000" algn="bl" rotWithShape="0">
              <a:srgbClr val="14253C">
                <a:alpha val="12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8988552" y="5157216"/>
            <a:ext cx="137160" cy="137160"/>
          </a:xfrm>
          <a:prstGeom prst="ellipse">
            <a:avLst/>
          </a:prstGeom>
          <a:solidFill>
            <a:srgbClr val="0FA384"/>
          </a:solidFill>
          <a:ln/>
        </p:spPr>
      </p:sp>
      <p:sp>
        <p:nvSpPr>
          <p:cNvPr id="22" name="Text 18"/>
          <p:cNvSpPr/>
          <p:nvPr/>
        </p:nvSpPr>
        <p:spPr>
          <a:xfrm>
            <a:off x="9189720" y="5093208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25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 &amp; MT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9189720" y="5358384"/>
            <a:ext cx="2240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revenue, high satisfaction · growth pilot</a:t>
            </a:r>
            <a:endParaRPr lang="en-US" sz="950" dirty="0"/>
          </a:p>
        </p:txBody>
      </p:sp>
      <p:sp>
        <p:nvSpPr>
          <p:cNvPr id="24" name="Text 20"/>
          <p:cNvSpPr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Unlocking Growth at Olist  ·  Executive Briefing</a:t>
            </a:r>
            <a:endParaRPr lang="en-US" sz="1000" dirty="0"/>
          </a:p>
        </p:txBody>
      </p:sp>
      <p:sp>
        <p:nvSpPr>
          <p:cNvPr id="25" name="Text 21"/>
          <p:cNvSpPr/>
          <p:nvPr/>
        </p:nvSpPr>
        <p:spPr>
          <a:xfrm>
            <a:off x="1147572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8A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20624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0FA3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5 · CUSTOMER SEGMENTATION (RFM + KMEANS, K=4)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927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425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94% buy once — the retention opportunity is enormous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5074920" cy="2788920"/>
          </a:xfrm>
          <a:prstGeom prst="roundRect">
            <a:avLst>
              <a:gd name="adj" fmla="val 1639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blurRad="114300" dist="38100" dir="5400000" algn="bl" rotWithShape="0">
              <a:srgbClr val="14253C">
                <a:alpha val="12000"/>
              </a:srgbClr>
            </a:outerShdw>
          </a:effectLst>
        </p:spPr>
      </p:sp>
      <p:pic>
        <p:nvPicPr>
          <p:cNvPr id="5" name="Image 0" descr="charts/chart12_segmen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1792224"/>
            <a:ext cx="4160520" cy="249631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897880" y="1645920"/>
            <a:ext cx="5650992" cy="2788920"/>
          </a:xfrm>
          <a:prstGeom prst="roundRect">
            <a:avLst>
              <a:gd name="adj" fmla="val 1639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blurRad="114300" dist="38100" dir="5400000" algn="bl" rotWithShape="0">
              <a:srgbClr val="14253C">
                <a:alpha val="12000"/>
              </a:srgbClr>
            </a:outerShdw>
          </a:effectLst>
        </p:spPr>
      </p:sp>
      <p:pic>
        <p:nvPicPr>
          <p:cNvPr id="7" name="Image 1" descr="charts/chart13_segment_profil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44184" y="2005238"/>
            <a:ext cx="5358384" cy="2070285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640080" y="4617720"/>
            <a:ext cx="2697480" cy="1261872"/>
          </a:xfrm>
          <a:prstGeom prst="roundRect">
            <a:avLst>
              <a:gd name="adj" fmla="val 3623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blurRad="114300" dist="38100" dir="5400000" algn="bl" rotWithShape="0">
              <a:srgbClr val="14253C">
                <a:alpha val="12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822960" y="4791456"/>
            <a:ext cx="164592" cy="164592"/>
          </a:xfrm>
          <a:prstGeom prst="ellipse">
            <a:avLst/>
          </a:prstGeom>
          <a:solidFill>
            <a:srgbClr val="1E9E63"/>
          </a:solidFill>
          <a:ln/>
        </p:spPr>
      </p:sp>
      <p:sp>
        <p:nvSpPr>
          <p:cNvPr id="10" name="Text 6"/>
          <p:cNvSpPr/>
          <p:nvPr/>
        </p:nvSpPr>
        <p:spPr>
          <a:xfrm>
            <a:off x="1060704" y="4718304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25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Customers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841248" y="5074920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9E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50,642 (54%)</a:t>
            </a:r>
            <a:endParaRPr lang="en-US" sz="1450" dirty="0"/>
          </a:p>
        </p:txBody>
      </p:sp>
      <p:sp>
        <p:nvSpPr>
          <p:cNvPr id="12" name="Text 8"/>
          <p:cNvSpPr/>
          <p:nvPr/>
        </p:nvSpPr>
        <p:spPr>
          <a:xfrm>
            <a:off x="850392" y="5394960"/>
            <a:ext cx="23134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9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recency ~128d · high volume, low loyalty</a:t>
            </a:r>
            <a:endParaRPr lang="en-US" sz="950" dirty="0"/>
          </a:p>
        </p:txBody>
      </p:sp>
      <p:sp>
        <p:nvSpPr>
          <p:cNvPr id="13" name="Shape 9"/>
          <p:cNvSpPr/>
          <p:nvPr/>
        </p:nvSpPr>
        <p:spPr>
          <a:xfrm>
            <a:off x="3374136" y="4617720"/>
            <a:ext cx="2697480" cy="1261872"/>
          </a:xfrm>
          <a:prstGeom prst="roundRect">
            <a:avLst>
              <a:gd name="adj" fmla="val 3623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blurRad="114300" dist="38100" dir="5400000" algn="bl" rotWithShape="0">
              <a:srgbClr val="14253C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3557016" y="4791456"/>
            <a:ext cx="164592" cy="164592"/>
          </a:xfrm>
          <a:prstGeom prst="ellipse">
            <a:avLst/>
          </a:prstGeom>
          <a:solidFill>
            <a:srgbClr val="D64C3C"/>
          </a:solidFill>
          <a:ln/>
        </p:spPr>
      </p:sp>
      <p:sp>
        <p:nvSpPr>
          <p:cNvPr id="15" name="Text 11"/>
          <p:cNvSpPr/>
          <p:nvPr/>
        </p:nvSpPr>
        <p:spPr>
          <a:xfrm>
            <a:off x="3794760" y="4718304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25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Customers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3575304" y="5074920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D64C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37,526 (40%)</a:t>
            </a:r>
            <a:endParaRPr lang="en-US" sz="1450" dirty="0"/>
          </a:p>
        </p:txBody>
      </p:sp>
      <p:sp>
        <p:nvSpPr>
          <p:cNvPr id="17" name="Text 13"/>
          <p:cNvSpPr/>
          <p:nvPr/>
        </p:nvSpPr>
        <p:spPr>
          <a:xfrm>
            <a:off x="3584448" y="5394960"/>
            <a:ext cx="23134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9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recency ~387d · win-back priority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6108192" y="4617720"/>
            <a:ext cx="2697480" cy="1261872"/>
          </a:xfrm>
          <a:prstGeom prst="roundRect">
            <a:avLst>
              <a:gd name="adj" fmla="val 3623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blurRad="114300" dist="38100" dir="5400000" algn="bl" rotWithShape="0">
              <a:srgbClr val="14253C">
                <a:alpha val="1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291072" y="4791456"/>
            <a:ext cx="164592" cy="164592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20" name="Text 16"/>
          <p:cNvSpPr/>
          <p:nvPr/>
        </p:nvSpPr>
        <p:spPr>
          <a:xfrm>
            <a:off x="6528816" y="4718304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25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VIP Customers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6309360" y="5074920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4A90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2,772 (3%)</a:t>
            </a:r>
            <a:endParaRPr lang="en-US" sz="1450" dirty="0"/>
          </a:p>
        </p:txBody>
      </p:sp>
      <p:sp>
        <p:nvSpPr>
          <p:cNvPr id="22" name="Text 18"/>
          <p:cNvSpPr/>
          <p:nvPr/>
        </p:nvSpPr>
        <p:spPr>
          <a:xfrm>
            <a:off x="6318504" y="5394960"/>
            <a:ext cx="23134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9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recency ~220d · small but valuable</a:t>
            </a:r>
            <a:endParaRPr lang="en-US" sz="950" dirty="0"/>
          </a:p>
        </p:txBody>
      </p:sp>
      <p:sp>
        <p:nvSpPr>
          <p:cNvPr id="23" name="Shape 19"/>
          <p:cNvSpPr/>
          <p:nvPr/>
        </p:nvSpPr>
        <p:spPr>
          <a:xfrm>
            <a:off x="8842248" y="4617720"/>
            <a:ext cx="2697480" cy="1261872"/>
          </a:xfrm>
          <a:prstGeom prst="roundRect">
            <a:avLst>
              <a:gd name="adj" fmla="val 3623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blurRad="114300" dist="38100" dir="5400000" algn="bl" rotWithShape="0">
              <a:srgbClr val="14253C">
                <a:alpha val="12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9025128" y="4791456"/>
            <a:ext cx="164592" cy="164592"/>
          </a:xfrm>
          <a:prstGeom prst="ellipse">
            <a:avLst/>
          </a:prstGeom>
          <a:solidFill>
            <a:srgbClr val="C8881F"/>
          </a:solidFill>
          <a:ln/>
        </p:spPr>
      </p:sp>
      <p:sp>
        <p:nvSpPr>
          <p:cNvPr id="25" name="Text 21"/>
          <p:cNvSpPr/>
          <p:nvPr/>
        </p:nvSpPr>
        <p:spPr>
          <a:xfrm>
            <a:off x="9262872" y="4718304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25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Sleeping Giants</a:t>
            </a:r>
            <a:endParaRPr lang="en-US" sz="1200" dirty="0"/>
          </a:p>
        </p:txBody>
      </p:sp>
      <p:sp>
        <p:nvSpPr>
          <p:cNvPr id="26" name="Text 22"/>
          <p:cNvSpPr/>
          <p:nvPr/>
        </p:nvSpPr>
        <p:spPr>
          <a:xfrm>
            <a:off x="9043416" y="5074920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C888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2,418 (3%)</a:t>
            </a:r>
            <a:endParaRPr lang="en-US" sz="1450" dirty="0"/>
          </a:p>
        </p:txBody>
      </p:sp>
      <p:sp>
        <p:nvSpPr>
          <p:cNvPr id="27" name="Text 23"/>
          <p:cNvSpPr/>
          <p:nvPr/>
        </p:nvSpPr>
        <p:spPr>
          <a:xfrm>
            <a:off x="9052560" y="5394960"/>
            <a:ext cx="23134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9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spend R$1,160 · top reactivation ROI</a:t>
            </a:r>
            <a:endParaRPr lang="en-US" sz="950" dirty="0"/>
          </a:p>
        </p:txBody>
      </p:sp>
      <p:sp>
        <p:nvSpPr>
          <p:cNvPr id="28" name="Text 24"/>
          <p:cNvSpPr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Unlocking Growth at Olist  ·  Executive Briefing</a:t>
            </a:r>
            <a:endParaRPr lang="en-US" sz="1000" dirty="0"/>
          </a:p>
        </p:txBody>
      </p:sp>
      <p:sp>
        <p:nvSpPr>
          <p:cNvPr id="29" name="Text 25"/>
          <p:cNvSpPr/>
          <p:nvPr/>
        </p:nvSpPr>
        <p:spPr>
          <a:xfrm>
            <a:off x="1147572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8A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20624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0FA3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 &amp; NEXT STEPS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927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425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moves to convert fragile growth into durable revenue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755648"/>
            <a:ext cx="3456432" cy="1755648"/>
          </a:xfrm>
          <a:prstGeom prst="roundRect">
            <a:avLst>
              <a:gd name="adj" fmla="val 2604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blurRad="114300" dist="38100" dir="5400000" algn="bl" rotWithShape="0">
              <a:srgbClr val="14253C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029968"/>
            <a:ext cx="566928" cy="566928"/>
          </a:xfrm>
          <a:prstGeom prst="ellipse">
            <a:avLst/>
          </a:prstGeom>
          <a:solidFill>
            <a:srgbClr val="D64C3C"/>
          </a:solidFill>
          <a:ln/>
        </p:spPr>
      </p:sp>
      <p:pic>
        <p:nvPicPr>
          <p:cNvPr id="6" name="Image 0" descr="icons/truck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272" y="2148840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91056" y="2029968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64C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920240" y="2029968"/>
            <a:ext cx="19933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425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Fix delivery SLA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932688" y="2715768"/>
            <a:ext cx="290779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SLA monitoring, delay escalation and automated compensation — highest satisfaction ROI.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370832" y="1755648"/>
            <a:ext cx="3456432" cy="1755648"/>
          </a:xfrm>
          <a:prstGeom prst="roundRect">
            <a:avLst>
              <a:gd name="adj" fmla="val 2604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blurRad="114300" dist="38100" dir="5400000" algn="bl" rotWithShape="0">
              <a:srgbClr val="14253C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45152" y="2029968"/>
            <a:ext cx="566928" cy="566928"/>
          </a:xfrm>
          <a:prstGeom prst="ellipse">
            <a:avLst/>
          </a:prstGeom>
          <a:solidFill>
            <a:srgbClr val="E0982E"/>
          </a:solidFill>
          <a:ln/>
        </p:spPr>
      </p:sp>
      <p:pic>
        <p:nvPicPr>
          <p:cNvPr id="12" name="Image 1" descr="icons/clip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4024" y="2148840"/>
            <a:ext cx="329184" cy="32918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029968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09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5650992" y="2029968"/>
            <a:ext cx="19933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425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Quality review: ticking bombs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4663440" y="2715768"/>
            <a:ext cx="290779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Root-cause across product, returns and seller SLAs for bed_bath_table, computers, watches_gifts.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8101584" y="1755648"/>
            <a:ext cx="3456432" cy="1755648"/>
          </a:xfrm>
          <a:prstGeom prst="roundRect">
            <a:avLst>
              <a:gd name="adj" fmla="val 2604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blurRad="114300" dist="38100" dir="5400000" algn="bl" rotWithShape="0">
              <a:srgbClr val="14253C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375904" y="2029968"/>
            <a:ext cx="566928" cy="566928"/>
          </a:xfrm>
          <a:prstGeom prst="ellipse">
            <a:avLst/>
          </a:prstGeom>
          <a:solidFill>
            <a:srgbClr val="0FA384"/>
          </a:solidFill>
          <a:ln/>
        </p:spPr>
      </p:sp>
      <p:pic>
        <p:nvPicPr>
          <p:cNvPr id="18" name="Image 2" descr="icons/users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94776" y="2148840"/>
            <a:ext cx="329184" cy="32918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9052560" y="2029968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A3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9381744" y="2029968"/>
            <a:ext cx="19933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425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Win-back campaign</a:t>
            </a:r>
            <a:endParaRPr lang="en-US" sz="1450" dirty="0"/>
          </a:p>
        </p:txBody>
      </p:sp>
      <p:sp>
        <p:nvSpPr>
          <p:cNvPr id="21" name="Text 16"/>
          <p:cNvSpPr/>
          <p:nvPr/>
        </p:nvSpPr>
        <p:spPr>
          <a:xfrm>
            <a:off x="8394192" y="2715768"/>
            <a:ext cx="290779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the 37,526 lost customers with personalised offers and delivery guarantees.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2505456" y="3749040"/>
            <a:ext cx="3456432" cy="1755648"/>
          </a:xfrm>
          <a:prstGeom prst="roundRect">
            <a:avLst>
              <a:gd name="adj" fmla="val 2604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blurRad="114300" dist="38100" dir="5400000" algn="bl" rotWithShape="0">
              <a:srgbClr val="14253C">
                <a:alpha val="12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2779776" y="4023360"/>
            <a:ext cx="566928" cy="566928"/>
          </a:xfrm>
          <a:prstGeom prst="ellipse">
            <a:avLst/>
          </a:prstGeom>
          <a:solidFill>
            <a:srgbClr val="C8881F"/>
          </a:solidFill>
          <a:ln/>
        </p:spPr>
      </p:sp>
      <p:pic>
        <p:nvPicPr>
          <p:cNvPr id="24" name="Image 3" descr="icons/redo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98648" y="4142232"/>
            <a:ext cx="329184" cy="329184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3456432" y="4023360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888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</a:t>
            </a:r>
            <a:endParaRPr lang="en-US" sz="1800" dirty="0"/>
          </a:p>
        </p:txBody>
      </p:sp>
      <p:sp>
        <p:nvSpPr>
          <p:cNvPr id="26" name="Text 20"/>
          <p:cNvSpPr/>
          <p:nvPr/>
        </p:nvSpPr>
        <p:spPr>
          <a:xfrm>
            <a:off x="3785616" y="4023360"/>
            <a:ext cx="19933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425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Reactivate Sleeping Giants</a:t>
            </a:r>
            <a:endParaRPr lang="en-US" sz="1450" dirty="0"/>
          </a:p>
        </p:txBody>
      </p:sp>
      <p:sp>
        <p:nvSpPr>
          <p:cNvPr id="27" name="Text 21"/>
          <p:cNvSpPr/>
          <p:nvPr/>
        </p:nvSpPr>
        <p:spPr>
          <a:xfrm>
            <a:off x="2798064" y="4709160"/>
            <a:ext cx="290779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High-touch outreach + curated bundles for 2,418 customers (avg R$1,160) — top recovery prize.</a:t>
            </a:r>
            <a:endParaRPr lang="en-US" sz="1150" dirty="0"/>
          </a:p>
        </p:txBody>
      </p:sp>
      <p:sp>
        <p:nvSpPr>
          <p:cNvPr id="28" name="Shape 22"/>
          <p:cNvSpPr/>
          <p:nvPr/>
        </p:nvSpPr>
        <p:spPr>
          <a:xfrm>
            <a:off x="6236208" y="3749040"/>
            <a:ext cx="3456432" cy="1755648"/>
          </a:xfrm>
          <a:prstGeom prst="roundRect">
            <a:avLst>
              <a:gd name="adj" fmla="val 2604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blurRad="114300" dist="38100" dir="5400000" algn="bl" rotWithShape="0">
              <a:srgbClr val="14253C">
                <a:alpha val="12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6510528" y="4023360"/>
            <a:ext cx="566928" cy="566928"/>
          </a:xfrm>
          <a:prstGeom prst="ellipse">
            <a:avLst/>
          </a:prstGeom>
          <a:solidFill>
            <a:srgbClr val="1E9E63"/>
          </a:solidFill>
          <a:ln/>
        </p:spPr>
      </p:sp>
      <p:pic>
        <p:nvPicPr>
          <p:cNvPr id="30" name="Image 4" descr="icons/tags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29400" y="4142232"/>
            <a:ext cx="329184" cy="329184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7187184" y="4023360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9E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</a:t>
            </a:r>
            <a:endParaRPr lang="en-US" sz="1800" dirty="0"/>
          </a:p>
        </p:txBody>
      </p:sp>
      <p:sp>
        <p:nvSpPr>
          <p:cNvPr id="32" name="Text 25"/>
          <p:cNvSpPr/>
          <p:nvPr/>
        </p:nvSpPr>
        <p:spPr>
          <a:xfrm>
            <a:off x="7516368" y="4023360"/>
            <a:ext cx="19933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425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Grow AOV</a:t>
            </a:r>
            <a:endParaRPr lang="en-US" sz="1450" dirty="0"/>
          </a:p>
        </p:txBody>
      </p:sp>
      <p:sp>
        <p:nvSpPr>
          <p:cNvPr id="33" name="Text 26"/>
          <p:cNvSpPr/>
          <p:nvPr/>
        </p:nvSpPr>
        <p:spPr>
          <a:xfrm>
            <a:off x="6528816" y="4709160"/>
            <a:ext cx="290779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Bundles, minimum free-ship thresholds and targeted upsell flows to recover margin.</a:t>
            </a:r>
            <a:endParaRPr lang="en-US" sz="1150" dirty="0"/>
          </a:p>
        </p:txBody>
      </p:sp>
      <p:sp>
        <p:nvSpPr>
          <p:cNvPr id="34" name="Text 27"/>
          <p:cNvSpPr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Unlocking Growth at Olist  ·  Executive Briefing</a:t>
            </a:r>
            <a:endParaRPr lang="en-US" sz="1000" dirty="0"/>
          </a:p>
        </p:txBody>
      </p:sp>
      <p:sp>
        <p:nvSpPr>
          <p:cNvPr id="35" name="Text 28"/>
          <p:cNvSpPr/>
          <p:nvPr/>
        </p:nvSpPr>
        <p:spPr>
          <a:xfrm>
            <a:off x="1147572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8A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25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0FA38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515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kern="0" spc="400" dirty="0">
                <a:solidFill>
                  <a:srgbClr val="0FA3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731520" y="1481328"/>
            <a:ext cx="10607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4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Growth at Olist is real —</a:t>
            </a:r>
            <a:endParaRPr lang="en-US" sz="3400" dirty="0"/>
          </a:p>
          <a:p>
            <a:pPr marL="0" indent="0">
              <a:lnSpc>
                <a:spcPct val="104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but fragile.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731520" y="3200400"/>
            <a:ext cx="3383280" cy="1874520"/>
          </a:xfrm>
          <a:prstGeom prst="roundRect">
            <a:avLst>
              <a:gd name="adj" fmla="val 2439"/>
            </a:avLst>
          </a:prstGeom>
          <a:solidFill>
            <a:srgbClr val="1E3552"/>
          </a:solidFill>
          <a:ln w="12700">
            <a:solidFill>
              <a:srgbClr val="32466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05840" y="3438144"/>
            <a:ext cx="512064" cy="512064"/>
          </a:xfrm>
          <a:prstGeom prst="ellipse">
            <a:avLst/>
          </a:prstGeom>
          <a:solidFill>
            <a:srgbClr val="0FA384"/>
          </a:solidFill>
          <a:ln/>
        </p:spPr>
      </p:sp>
      <p:pic>
        <p:nvPicPr>
          <p:cNvPr id="7" name="Image 0" descr="icons/truck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3529584"/>
            <a:ext cx="329184" cy="3291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05840" y="4078224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Stabilise the experience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1005840" y="4553712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7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delivery and weak categories cost satisfaction — fix them first.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389120" y="3200400"/>
            <a:ext cx="3383280" cy="1874520"/>
          </a:xfrm>
          <a:prstGeom prst="roundRect">
            <a:avLst>
              <a:gd name="adj" fmla="val 2439"/>
            </a:avLst>
          </a:prstGeom>
          <a:solidFill>
            <a:srgbClr val="1E3552"/>
          </a:solidFill>
          <a:ln w="12700">
            <a:solidFill>
              <a:srgbClr val="32466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663440" y="3438144"/>
            <a:ext cx="512064" cy="512064"/>
          </a:xfrm>
          <a:prstGeom prst="ellipse">
            <a:avLst/>
          </a:prstGeom>
          <a:solidFill>
            <a:srgbClr val="0FA384"/>
          </a:solidFill>
          <a:ln/>
        </p:spPr>
      </p:sp>
      <p:pic>
        <p:nvPicPr>
          <p:cNvPr id="12" name="Image 1" descr="icons/hand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3529584"/>
            <a:ext cx="329184" cy="32918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663440" y="4078224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Pursue data-driven retention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4663440" y="4553712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7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94% buy once; reactivating Sleeping Giants is the highest-ROI move.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8046720" y="3200400"/>
            <a:ext cx="3383280" cy="1874520"/>
          </a:xfrm>
          <a:prstGeom prst="roundRect">
            <a:avLst>
              <a:gd name="adj" fmla="val 2439"/>
            </a:avLst>
          </a:prstGeom>
          <a:solidFill>
            <a:srgbClr val="1E3552"/>
          </a:solidFill>
          <a:ln w="12700">
            <a:solidFill>
              <a:srgbClr val="32466A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321040" y="3438144"/>
            <a:ext cx="512064" cy="512064"/>
          </a:xfrm>
          <a:prstGeom prst="ellipse">
            <a:avLst/>
          </a:prstGeom>
          <a:solidFill>
            <a:srgbClr val="0FA384"/>
          </a:solidFill>
          <a:ln/>
        </p:spPr>
      </p:sp>
      <p:pic>
        <p:nvPicPr>
          <p:cNvPr id="17" name="Image 2" descr="icons/scale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2480" y="3529584"/>
            <a:ext cx="329184" cy="32918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321040" y="4078224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Defend margin as you scale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8321040" y="4553712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7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Lift AOV so growth stops depending on discounts and promo spikes.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731520" y="544068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i="1" dirty="0">
                <a:solidFill>
                  <a:srgbClr val="AF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Stabilise customer experience and convert one-time volume into loyal, higher-value customers — that is how Olist turns scale into sustainable revenue.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731520" y="617220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E8D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Muhammed Raazi V  ·  June 2026  ·  Olist End-to-End Data Analytics Case Study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1285</Words>
  <Application>Microsoft Office PowerPoint</Application>
  <PresentationFormat>Widescreen</PresentationFormat>
  <Paragraphs>187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Unlocking Growth at Olist — Executive Briefing</dc:title>
  <dc:subject>PptxGenJS Presentation</dc:subject>
  <dc:creator>Muhammed Raazi V</dc:creator>
  <cp:lastModifiedBy>mrazi10711@gmail.com</cp:lastModifiedBy>
  <cp:revision>1</cp:revision>
  <dcterms:created xsi:type="dcterms:W3CDTF">2026-06-24T14:41:09Z</dcterms:created>
  <dcterms:modified xsi:type="dcterms:W3CDTF">2026-06-24T14:46:09Z</dcterms:modified>
</cp:coreProperties>
</file>